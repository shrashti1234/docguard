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3f14c6cfc34b32" /><Relationship Type="http://schemas.openxmlformats.org/officeDocument/2006/relationships/extended-properties" Target="/docProps/app.xml" Id="Rfc180d3a3fbf43ba" /><Relationship Type="http://schemas.openxmlformats.org/officeDocument/2006/relationships/officeDocument" Target="/ppt/presentation.xml" Id="R95df4a3ecd894b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9e42347e0f4339"/>
  </p:sldMasterIdLst>
  <p:notesMasterIdLst>
    <p:notesMasterId xmlns:r="http://schemas.openxmlformats.org/officeDocument/2006/relationships" r:id="R2e187bc87e3845c3"/>
  </p:notesMasterIdLst>
  <p:sldIdLst>
    <p:sldId xmlns:r="http://schemas.openxmlformats.org/officeDocument/2006/relationships" id="256" r:id="R6901326f8eae4b5f"/>
    <p:sldId xmlns:r="http://schemas.openxmlformats.org/officeDocument/2006/relationships" id="257" r:id="R1c8210a787e04b2a"/>
    <p:sldId xmlns:r="http://schemas.openxmlformats.org/officeDocument/2006/relationships" id="258" r:id="R9819db1a37ec4110"/>
    <p:sldId xmlns:r="http://schemas.openxmlformats.org/officeDocument/2006/relationships" id="259" r:id="Rc42edfe151154711"/>
    <p:sldId xmlns:r="http://schemas.openxmlformats.org/officeDocument/2006/relationships" id="260" r:id="Rc0375fdd315c404d"/>
    <p:sldId xmlns:r="http://schemas.openxmlformats.org/officeDocument/2006/relationships" id="261" r:id="R6916475a62f54075"/>
    <p:sldId xmlns:r="http://schemas.openxmlformats.org/officeDocument/2006/relationships" id="262" r:id="R43e7ab983ba04c91"/>
    <p:sldId xmlns:r="http://schemas.openxmlformats.org/officeDocument/2006/relationships" id="263" r:id="R1d1a54de32ba4ca7"/>
    <p:sldId xmlns:r="http://schemas.openxmlformats.org/officeDocument/2006/relationships" id="264" r:id="R45fa5655b39f473d"/>
    <p:sldId xmlns:r="http://schemas.openxmlformats.org/officeDocument/2006/relationships" id="265" r:id="Rb5db02187c0f430c"/>
    <p:sldId xmlns:r="http://schemas.openxmlformats.org/officeDocument/2006/relationships" id="266" r:id="R19621fa4a7f04327"/>
    <p:sldId xmlns:r="http://schemas.openxmlformats.org/officeDocument/2006/relationships" id="267" r:id="Ra4128750556a4392"/>
    <p:sldId xmlns:r="http://schemas.openxmlformats.org/officeDocument/2006/relationships" id="268" r:id="R56eefca89b894632"/>
    <p:sldId xmlns:r="http://schemas.openxmlformats.org/officeDocument/2006/relationships" id="269" r:id="R7d9b09d8afad4d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ccd7bf62e74bd5" /><Relationship Type="http://schemas.openxmlformats.org/officeDocument/2006/relationships/slideMaster" Target="/ppt/slideMasters/slideMaster1.xml" Id="R179e42347e0f4339" /><Relationship Type="http://schemas.openxmlformats.org/officeDocument/2006/relationships/notesMaster" Target="/ppt/notesMasters/notesMaster1.xml" Id="R2e187bc87e3845c3" /><Relationship Type="http://schemas.openxmlformats.org/officeDocument/2006/relationships/presProps" Target="/ppt/presProps.xml" Id="Ra83912017fee495f" /><Relationship Type="http://schemas.openxmlformats.org/officeDocument/2006/relationships/tableStyles" Target="/ppt/tableStyles.xml" Id="R2338bfac201845e0" /><Relationship Type="http://schemas.openxmlformats.org/officeDocument/2006/relationships/slide" Target="/ppt/slides/slide1.xml" Id="R6901326f8eae4b5f" /><Relationship Type="http://schemas.openxmlformats.org/officeDocument/2006/relationships/slide" Target="/ppt/slides/slide2.xml" Id="R1c8210a787e04b2a" /><Relationship Type="http://schemas.openxmlformats.org/officeDocument/2006/relationships/slide" Target="/ppt/slides/slide3.xml" Id="R9819db1a37ec4110" /><Relationship Type="http://schemas.openxmlformats.org/officeDocument/2006/relationships/slide" Target="/ppt/slides/slide4.xml" Id="Rc42edfe151154711" /><Relationship Type="http://schemas.openxmlformats.org/officeDocument/2006/relationships/slide" Target="/ppt/slides/slide5.xml" Id="Rc0375fdd315c404d" /><Relationship Type="http://schemas.openxmlformats.org/officeDocument/2006/relationships/slide" Target="/ppt/slides/slide6.xml" Id="R6916475a62f54075" /><Relationship Type="http://schemas.openxmlformats.org/officeDocument/2006/relationships/slide" Target="/ppt/slides/slide7.xml" Id="R43e7ab983ba04c91" /><Relationship Type="http://schemas.openxmlformats.org/officeDocument/2006/relationships/slide" Target="/ppt/slides/slide8.xml" Id="R1d1a54de32ba4ca7" /><Relationship Type="http://schemas.openxmlformats.org/officeDocument/2006/relationships/slide" Target="/ppt/slides/slide9.xml" Id="R45fa5655b39f473d" /><Relationship Type="http://schemas.openxmlformats.org/officeDocument/2006/relationships/slide" Target="/ppt/slides/slide10.xml" Id="Rb5db02187c0f430c" /><Relationship Type="http://schemas.openxmlformats.org/officeDocument/2006/relationships/slide" Target="/ppt/slides/slide11.xml" Id="R19621fa4a7f04327" /><Relationship Type="http://schemas.openxmlformats.org/officeDocument/2006/relationships/slide" Target="/ppt/slides/slide12.xml" Id="Ra4128750556a4392" /><Relationship Type="http://schemas.openxmlformats.org/officeDocument/2006/relationships/slide" Target="/ppt/slides/slide13.xml" Id="R56eefca89b894632" /><Relationship Type="http://schemas.openxmlformats.org/officeDocument/2006/relationships/slide" Target="/ppt/slides/slide14.xml" Id="R7d9b09d8afad4d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0d54f6e78245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35463cd04648a3" /><Relationship Type="http://schemas.openxmlformats.org/officeDocument/2006/relationships/notesMaster" Target="/ppt/notesMasters/notesMaster1.xml" Id="Rc8ddd24005dc4b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92803b088344ed" /><Relationship Type="http://schemas.openxmlformats.org/officeDocument/2006/relationships/notesMaster" Target="/ppt/notesMasters/notesMaster1.xml" Id="Rb4ce6939dfc142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58ff6dfa1048d9" /><Relationship Type="http://schemas.openxmlformats.org/officeDocument/2006/relationships/notesMaster" Target="/ppt/notesMasters/notesMaster1.xml" Id="R5ca14b481ad241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413cd74917479c" /><Relationship Type="http://schemas.openxmlformats.org/officeDocument/2006/relationships/notesMaster" Target="/ppt/notesMasters/notesMaster1.xml" Id="Rca4b6581ebc942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dd1c40ff094ab7" /><Relationship Type="http://schemas.openxmlformats.org/officeDocument/2006/relationships/notesMaster" Target="/ppt/notesMasters/notesMaster1.xml" Id="Re34f3baf9f144f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2c06a1786e441b" /><Relationship Type="http://schemas.openxmlformats.org/officeDocument/2006/relationships/notesMaster" Target="/ppt/notesMasters/notesMaster1.xml" Id="R82fc44221f1e44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823943a2dd4d7b" /><Relationship Type="http://schemas.openxmlformats.org/officeDocument/2006/relationships/notesMaster" Target="/ppt/notesMasters/notesMaster1.xml" Id="Rba287cb8281d48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666b1a67ed4088" /><Relationship Type="http://schemas.openxmlformats.org/officeDocument/2006/relationships/notesMaster" Target="/ppt/notesMasters/notesMaster1.xml" Id="Rcd5a5264784840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337acd90a4471d" /><Relationship Type="http://schemas.openxmlformats.org/officeDocument/2006/relationships/notesMaster" Target="/ppt/notesMasters/notesMaster1.xml" Id="R5882bba319664a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d16cd36e3d457c" /><Relationship Type="http://schemas.openxmlformats.org/officeDocument/2006/relationships/notesMaster" Target="/ppt/notesMasters/notesMaster1.xml" Id="R799fedb55ade48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3921bc2f9d4feb" /><Relationship Type="http://schemas.openxmlformats.org/officeDocument/2006/relationships/notesMaster" Target="/ppt/notesMasters/notesMaster1.xml" Id="R6f790953649342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b6e0bfed004e0c" /><Relationship Type="http://schemas.openxmlformats.org/officeDocument/2006/relationships/notesMaster" Target="/ppt/notesMasters/notesMaster1.xml" Id="R3ac67861f24649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e6a118c85d4f2c" /><Relationship Type="http://schemas.openxmlformats.org/officeDocument/2006/relationships/notesMaster" Target="/ppt/notesMasters/notesMaster1.xml" Id="Rf72fa980da374d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2b766ada0b4eb9" /><Relationship Type="http://schemas.openxmlformats.org/officeDocument/2006/relationships/notesMaster" Target="/ppt/notesMasters/notesMaster1.xml" Id="R905b41c5d5b346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team and project. This is a research prototype using synthetic documents. No production fraud detection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DocGuard, CS312B, KIET Deemed to be University. All measurements are preliminary synthetic dataset results. Source: local experiment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DocGuard, CS312B, KIET Deemed to be University. All measurements are preliminary synthetic dataset results. Source: local experiment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Inference runs on local CPU. Thresholds were selected on validation data and fixed during test evaluation. Predicted area is not a fraud probability.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DocGuard, CS312B, KIET Deemed to be University. All measurements are preliminary synthetic dataset results. Source: local experiment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CNN inspired by U-Net, not the full original U-Net. Transformer uses nvidia/mit-b0 with a custom decoder, not an untouched official SegFormer head. Frozen and full fine tuning were evaluated. References: https://arxiv.org/abs/1505.04597 ; https://arxiv.org/abs/2105.15203 ; https://huggingface.co/nvidia/mit-b0 . No GAN was trained.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DocGuard, CS312B, KIET Deemed to be University. All measurements are preliminary synthetic dataset results. Source: local experiment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global pixel F1 values: CNN 0.2460103262, frozen Transformer 0.2194730745, full fine tuned Transformer 0.2288149574. Source deliverables/model_comparison.json. Native editable chart.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DocGuard, CS312B, KIET Deemed to be University. All measurements are preliminary synthetic dataset results. Source: local experiment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runs/*/test_metrics.json and deliverables/model_comparison.json. Aggregate pixel counts, not per-image averaged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DocGuard, CS312B, KIET Deemed to be University. All measurements are preliminary synthetic dataset results. Source: local experiment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DocGuard, CS312B, KIET Deemed to be University. All measurements are preliminary synthetic dataset results. Source: local experiment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DocGuard, CS312B, KIET Deemed to be University. All measurements are preliminary synthetic dataset results. Source: local experiment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proposed next steps, not achieved improvements. CPU forward medians: CNN 19.70 ms and Transformer 34.65 ms, four threads, batch one, three warmups and twenty repeats; not end to end app timings. Repository https://github.com/Shrashti1234/Docguard. Architecture references https://arxiv.org/abs/1505.04597 and https://arxiv.org/abs/2105.15203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1406e1f1d4e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b7e67299be49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d85a5693a647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bd0c1618fd4c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7f1940f3d4c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92e34acbd946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EBC8C8-9184-4740-BB03-838F577F6C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59A506-BE56-4527-A6D2-9FF0815907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4A2A92E-31A1-4AD4-8826-CC7818D1F7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536DB5-8C1C-401E-A3C8-23CEAD7A22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5AD1D0-7C67-47FD-A5A7-D089E4051F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F97F14-757D-48F7-A0C2-CDF89F4753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0CC6D7-FAB7-4127-BA94-5B68558CF0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B5CC073-0B87-4D4F-A1AB-E24CF9E2DA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D7ECA7-5B61-48FA-83FD-FE03094B13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9B3EA2-AF3E-449E-BA1C-52F677E948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a12af332084dc4" /><Relationship Type="http://schemas.openxmlformats.org/officeDocument/2006/relationships/slideLayout" Target="/ppt/slideLayouts/slideLayout1.xml" Id="R9bbe82c185354ddf" /><Relationship Type="http://schemas.openxmlformats.org/officeDocument/2006/relationships/slideLayout" Target="/ppt/slideLayouts/slideLayout2.xml" Id="R96eb6dccb4084321" /><Relationship Type="http://schemas.openxmlformats.org/officeDocument/2006/relationships/slideLayout" Target="/ppt/slideLayouts/slideLayout3.xml" Id="R58e5d221dd19447b" /><Relationship Type="http://schemas.openxmlformats.org/officeDocument/2006/relationships/slideLayout" Target="/ppt/slideLayouts/slideLayout4.xml" Id="R71387094959141eb" /><Relationship Type="http://schemas.openxmlformats.org/officeDocument/2006/relationships/slideLayout" Target="/ppt/slideLayouts/slideLayout5.xml" Id="Rc03bc7817a7746d7" /><Relationship Type="http://schemas.openxmlformats.org/officeDocument/2006/relationships/slideLayout" Target="/ppt/slideLayouts/slideLayout6.xml" Id="Rd47aa1228fc644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be82c185354ddf"/>
    <p:sldLayoutId xmlns:r="http://schemas.openxmlformats.org/officeDocument/2006/relationships" id="2147483650" r:id="R96eb6dccb4084321"/>
    <p:sldLayoutId xmlns:r="http://schemas.openxmlformats.org/officeDocument/2006/relationships" id="2147483651" r:id="R58e5d221dd19447b"/>
    <p:sldLayoutId xmlns:r="http://schemas.openxmlformats.org/officeDocument/2006/relationships" id="2147483652" r:id="R71387094959141eb"/>
    <p:sldLayoutId xmlns:r="http://schemas.openxmlformats.org/officeDocument/2006/relationships" id="2147483653" r:id="Rc03bc7817a7746d7"/>
    <p:sldLayoutId xmlns:r="http://schemas.openxmlformats.org/officeDocument/2006/relationships" id="2147483654" r:id="Rd47aa1228fc644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19b79a18284fed" /><Relationship Type="http://schemas.openxmlformats.org/officeDocument/2006/relationships/image" Target="/ppt/media/image.png" Id="Rbc63bb83e2d64741" /><Relationship Type="http://schemas.openxmlformats.org/officeDocument/2006/relationships/notesSlide" Target="/ppt/notesSlides/notesSlide1.xml" Id="R5aced0c71c3145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817959e5024347" /><Relationship Type="http://schemas.openxmlformats.org/officeDocument/2006/relationships/notesSlide" Target="/ppt/notesSlides/notesSlide2.xml" Id="Red17aeb6705f4c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9fabe77e349b0" /><Relationship Type="http://schemas.openxmlformats.org/officeDocument/2006/relationships/image" Target="/ppt/media/image2.png" Id="R9f20a9da1013428a" /><Relationship Type="http://schemas.openxmlformats.org/officeDocument/2006/relationships/image" Target="/ppt/media/image3.png" Id="R91d10a31ffa74bbd" /><Relationship Type="http://schemas.openxmlformats.org/officeDocument/2006/relationships/notesSlide" Target="/ppt/notesSlides/notesSlide3.xml" Id="Ra6d6b5a8278143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dc3c217350483b" /><Relationship Type="http://schemas.openxmlformats.org/officeDocument/2006/relationships/notesSlide" Target="/ppt/notesSlides/notesSlide4.xml" Id="Re9197b5a414644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ec1152b42b4f0f" /><Relationship Type="http://schemas.openxmlformats.org/officeDocument/2006/relationships/notesSlide" Target="/ppt/notesSlides/notesSlide5.xml" Id="R04814faf461043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36c98d3dab47ac" /><Relationship Type="http://schemas.openxmlformats.org/officeDocument/2006/relationships/notesSlide" Target="/ppt/notesSlides/notesSlide6.xml" Id="Rc3e947f4d46743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fff23c9d434e64" /><Relationship Type="http://schemas.openxmlformats.org/officeDocument/2006/relationships/notesSlide" Target="/ppt/notesSlides/notesSlide7.xml" Id="R97a7cf7eeb4d42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4621a7af1344f4" /><Relationship Type="http://schemas.openxmlformats.org/officeDocument/2006/relationships/chart" Target="/ppt/slides/charts/chart1.xml" Id="Rbcf579188655432f" /><Relationship Type="http://schemas.openxmlformats.org/officeDocument/2006/relationships/notesSlide" Target="/ppt/notesSlides/notesSlide8.xml" Id="R57b586013b3143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252ad055b4fd8" /><Relationship Type="http://schemas.openxmlformats.org/officeDocument/2006/relationships/notesSlide" Target="/ppt/notesSlides/notesSlide9.xml" Id="R176d6d8a771e40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29ce0d7e2c47e5" /><Relationship Type="http://schemas.openxmlformats.org/officeDocument/2006/relationships/notesSlide" Target="/ppt/notesSlides/notesSlide10.xml" Id="R54fd184b25fb44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d500564f2d4829" /><Relationship Type="http://schemas.openxmlformats.org/officeDocument/2006/relationships/image" Target="/ppt/media/image4.png" Id="Rf406b846fee343e6" /><Relationship Type="http://schemas.openxmlformats.org/officeDocument/2006/relationships/notesSlide" Target="/ppt/notesSlides/notesSlide11.xml" Id="Rcdbd3939ba6b4a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921fb6d9b14d38" /><Relationship Type="http://schemas.openxmlformats.org/officeDocument/2006/relationships/image" Target="/ppt/media/image5.png" Id="R8530f75aa99344fb" /><Relationship Type="http://schemas.openxmlformats.org/officeDocument/2006/relationships/notesSlide" Target="/ppt/notesSlides/notesSlide12.xml" Id="R5051fa31ba9b45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2bc18843d447aa" /><Relationship Type="http://schemas.openxmlformats.org/officeDocument/2006/relationships/image" Target="/ppt/media/image6.png" Id="R3a1a1bcfa27c4c3b" /><Relationship Type="http://schemas.openxmlformats.org/officeDocument/2006/relationships/notesSlide" Target="/ppt/notesSlides/notesSlide13.xml" Id="R22fe440b25514e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9edf7d7e734dbb" /><Relationship Type="http://schemas.openxmlformats.org/officeDocument/2006/relationships/notesSlide" Target="/ppt/notesSlides/notesSlide14.xml" Id="Rd1b330d0a0f94c4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Pixel F1</c:v>
          </c:tx>
          <c:spPr>
            <a:solidFill xmlns:a="http://schemas.openxmlformats.org/drawingml/2006/main">
              <a:srgbClr val="2764C5"/>
            </a:solidFill>
          </c:spPr>
          <c:invertIfNegative val="0"/>
          <c:cat>
            <c:strLit>
              <c:ptCount val="3"/>
              <c:pt idx="0">
                <c:v>CNN</c:v>
              </c:pt>
              <c:pt idx="1">
                <c:v>Frozen Transformer</c:v>
              </c:pt>
              <c:pt idx="2">
                <c:v>Fine tuned Transformer</c:v>
              </c:pt>
            </c:strLit>
          </c:cat>
          <c:val>
            <c:numLit>
              <c:formatCode>0.00</c:formatCode>
              <c:ptCount val="3"/>
              <c:pt idx="0">
                <c:v>0.246</c:v>
              </c:pt>
              <c:pt idx="1">
                <c:v>0.2195</c:v>
              </c:pt>
              <c:pt idx="2">
                <c:v>0.2288</c:v>
              </c:pt>
            </c:numLit>
          </c:val>
        </c:ser>
        <c:dLbls>
          <c:numFmt formatCode="0.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128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B7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3"/>
          <c:min val="0"/>
        </c:scaling>
        <c:delete val="0"/>
        <c:axPos val="b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283F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F"/>
        </a:solidFill>
      </c:spPr>
    </c:plotArea>
    <c:plotVisOnly val="1"/>
  </c:chart>
  <c:spPr>
    <a:solidFill xmlns:a="http://schemas.openxmlformats.org/drawingml/2006/main">
      <a:srgbClr val="F6F4E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8195C-21A5-41F1-9ED4-D2934B86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1DBCB"/>
                </a:solidFill>
                <a:latin typeface="Arial"/>
                <a:ea typeface="Arial"/>
                <a:cs typeface="Arial"/>
              </a:rPr>
              <a:t>DOCGUARD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89BE4-7E25-4380-8F63-B395EABD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1DBC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E8C73-C478-4BC4-AF7F-DDF6A07C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BCBD7"/>
                </a:solidFill>
                <a:latin typeface="Arial"/>
                <a:ea typeface="Arial"/>
                <a:cs typeface="Arial"/>
              </a:rPr>
              <a:t>KIET Deemed to be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0DF70-4BE1-4FC3-A01B-6AC0122A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704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07DF2-1039-4E46-95B7-F38F3557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657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 tampering</a:t>
            </a:r>
          </a:p>
          <a:p xmlns:a="http://schemas.openxmlformats.org/drawingml/2006/main">
            <a:pPr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D36A6-AD3D-456E-B286-35D06FC0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1DBCB"/>
                </a:solidFill>
                <a:latin typeface="Arial"/>
                <a:ea typeface="Arial"/>
                <a:cs typeface="Arial"/>
              </a:rPr>
              <a:t>CNN and Transformer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7FE10-29A1-4117-AA4C-C80FE483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9595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BCBD7"/>
                </a:solidFill>
                <a:latin typeface="Arial"/>
                <a:ea typeface="Arial"/>
                <a:cs typeface="Arial"/>
              </a:rPr>
              <a:t>Deep Learning and GenAI · CS312B</a:t>
            </a:r>
          </a:p>
          <a:p xmlns:a="http://schemas.openxmlformats.org/drawingml/2006/main">
            <a:pPr>
              <a:defRPr sz="150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BCBD7"/>
                </a:solidFill>
                <a:latin typeface="Arial"/>
                <a:ea typeface="Arial"/>
                <a:cs typeface="Arial"/>
              </a:rPr>
              <a:t>B.Tech CS · Semester 5 · Section D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75A2B-B121-4830-BBDE-4F7EB951E7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3bb83e2d64741"/>
          <a:stretch xmlns:a="http://schemas.openxmlformats.org/drawingml/2006/main"/>
        </p:blipFill>
        <p:spPr>
          <a:xfrm xmlns:a="http://schemas.openxmlformats.org/drawingml/2006/main">
            <a:off x="8191500" y="1196578"/>
            <a:ext cx="2809875" cy="351234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A2023-009B-42B2-AAC3-788D374A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292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CBD7"/>
                </a:solidFill>
                <a:latin typeface="Arial"/>
                <a:ea typeface="Arial"/>
                <a:cs typeface="Arial"/>
              </a:rPr>
              <a:t>Synthetic receipt used in the experiment</a:t>
            </a:r>
          </a:p>
        </p:txBody>
      </p:sp>
    </p:spTree>
    <p:extLst>
      <p:ext uri="{BB962C8B-B14F-4D97-AF65-F5344CB8AC3E}">
        <p14:creationId xmlns:p14="http://schemas.microsoft.com/office/powerpoint/2010/main" val="15808875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3728A-1623-4301-93E7-FD7BADD9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DOCGUARD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B1CD0-52FC-4CB8-B9AF-8D2F9A0E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61185-404F-4390-80F6-15C00685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The team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FD5B7-A30C-4D5B-955C-7F344FDF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Deep Learning and GenAI · CS312B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691B8-36F5-4E3D-90D0-39AB9E66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Shrashti Agarwal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D7BEF-9893-416C-A458-D5945651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3367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64C5"/>
                </a:solidFill>
                <a:latin typeface="Arial"/>
                <a:ea typeface="Arial"/>
                <a:cs typeface="Arial"/>
              </a:rPr>
              <a:t>2400290120240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1E28A-F350-46A1-8624-3F257733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9095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Saumya Tiwari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8FCD5-2D7C-4159-9658-3C1CDB05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3857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64C5"/>
                </a:solidFill>
                <a:latin typeface="Arial"/>
                <a:ea typeface="Arial"/>
                <a:cs typeface="Arial"/>
              </a:rPr>
              <a:t>2400240120230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714DD-72CF-4B5D-85A7-6AE4E55F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9585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Subrat Singh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223E1-31DC-4072-88EA-2EE7B2AA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4347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64C5"/>
                </a:solidFill>
                <a:latin typeface="Arial"/>
                <a:ea typeface="Arial"/>
                <a:cs typeface="Arial"/>
              </a:rPr>
              <a:t>2400290120250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0FE4B-BA92-4A02-AFE0-01539D1A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388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KIET Deemed to be University  /  B.Tech CS  /  Semester 5  /  Section D</a:t>
            </a:r>
          </a:p>
        </p:txBody>
      </p:sp>
    </p:spTree>
    <p:extLst>
      <p:ext uri="{BB962C8B-B14F-4D97-AF65-F5344CB8AC3E}">
        <p14:creationId xmlns:p14="http://schemas.microsoft.com/office/powerpoint/2010/main" val="1298622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3FADB-B4AA-46AE-A9B5-5CA2BB36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DOCGUARD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B3B6F-1297-4461-9070-DC100C91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2F560-CE14-4D78-BB7F-645142A0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Where did the document change?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7F241-E548-44C7-B2EB-44F2D860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The review needs a location, not just a page label.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84937-95CC-4C97-BD45-9E7BD647B1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0a9da1013428a"/>
          <a:stretch xmlns:a="http://schemas.openxmlformats.org/drawingml/2006/main"/>
        </p:blipFill>
        <p:spPr>
          <a:xfrm xmlns:a="http://schemas.openxmlformats.org/drawingml/2006/main">
            <a:off x="938213" y="2571750"/>
            <a:ext cx="2743200" cy="3429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D3DCB-209D-43E9-ADE6-B7B6ACB938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10a31ffa74bbd"/>
          <a:stretch xmlns:a="http://schemas.openxmlformats.org/drawingml/2006/main"/>
        </p:blipFill>
        <p:spPr>
          <a:xfrm xmlns:a="http://schemas.openxmlformats.org/drawingml/2006/main">
            <a:off x="4795838" y="2571750"/>
            <a:ext cx="274320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D08B4-1198-4737-A45F-562B1458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C6B78"/>
                </a:solidFill>
                <a:latin typeface="Arial"/>
                <a:ea typeface="Arial"/>
                <a:cs typeface="Arial"/>
              </a:rPr>
              <a:t>Original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3E1FD-2B89-4FD0-B3EC-BA59D7E6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150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Edited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7A00E-8524-443F-B4FB-2D708082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432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CD5B3-63ED-4E00-B256-5DC4F846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8612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Predict a mask</a:t>
            </a:r>
          </a:p>
          <a:p xmlns:a="http://schemas.openxmlformats.org/drawingml/2006/main">
            <a: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for suspicious</a:t>
            </a:r>
          </a:p>
          <a:p xmlns:a="http://schemas.openxmlformats.org/drawingml/2006/main">
            <a: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regions.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C31C8-237D-44E8-8B5F-70628251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006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Controlled study on</a:t>
            </a:r>
          </a:p>
          <a:p xmlns:a="http://schemas.openxmlformats.org/drawingml/2006/main">
            <a: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fictional receipts.</a:t>
            </a:r>
          </a:p>
        </p:txBody>
      </p:sp>
    </p:spTree>
    <p:extLst>
      <p:ext uri="{BB962C8B-B14F-4D97-AF65-F5344CB8AC3E}">
        <p14:creationId xmlns:p14="http://schemas.microsoft.com/office/powerpoint/2010/main" val="19055105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E21019-F5F7-4FB9-86F7-1D50D4E0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DOCGUARD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E54B3-0D57-4D96-95BF-3B1B89DC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0DE0D-BBF4-48D4-AE34-0E441F34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The review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FBF43-CBA4-4496-8874-D39A27FD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A local workflow from upload to downloadable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3B0CA-8014-4480-BD55-E3829A5C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9875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B88F7-D501-49E9-BA90-90187C60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Document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B7BB1-5866-4BD7-BBBC-DCDD095F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2619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Image or PDF</a:t>
            </a:r>
          </a:p>
          <a:p xmlns:a="http://schemas.openxmlformats.org/drawingml/2006/main">
            <a: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Selected 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2B94D-B00D-4A32-8E58-7F29CFB4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764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021AB-9F01-4F50-91FA-90DBBAA7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09875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5103F-A5EC-4482-A790-6F0C5B7F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9052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609FA-09ED-4B0E-B539-AEAC52D3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72000"/>
            <a:ext cx="2619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Normalize</a:t>
            </a:r>
          </a:p>
          <a:p xmlns:a="http://schemas.openxmlformats.org/drawingml/2006/main">
            <a: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160 × 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14D45-3F98-481A-AAB8-35DECCD8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764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83944-C2AD-46D3-A9AF-3DC0C09A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9875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3740D-BC4D-49F0-A179-0AAF18D8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052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Segment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37B6C-6023-430D-97AB-96DF97FC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72000"/>
            <a:ext cx="2619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CNN or MiT B0</a:t>
            </a:r>
          </a:p>
          <a:p xmlns:a="http://schemas.openxmlformats.org/drawingml/2006/main">
            <a: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Pixel scores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D8229-AE09-493B-B379-8B974794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764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F853AA-53EA-45E5-9623-4C3DBFB6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09875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46517-337D-4921-B75A-3E3A2FD0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9052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82A233-C60F-4FF8-9C55-26780D93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572000"/>
            <a:ext cx="2619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Overlay and heatmap</a:t>
            </a:r>
          </a:p>
          <a:p xmlns:a="http://schemas.openxmlformats.org/drawingml/2006/main">
            <a: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PNG · PDF · ZIP</a:t>
            </a:r>
          </a:p>
        </p:txBody>
      </p:sp>
    </p:spTree>
    <p:extLst>
      <p:ext uri="{BB962C8B-B14F-4D97-AF65-F5344CB8AC3E}">
        <p14:creationId xmlns:p14="http://schemas.microsoft.com/office/powerpoint/2010/main" val="12712120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15B8C-4BD8-4894-915E-44119718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DOCGUARD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10643-A92F-4C4A-BE15-6A48D124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E931A-BC61-47FB-B8FE-F3F8C9D1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1,200 images. One controlled benchmark.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B8A8F-6330-4DC0-8D22-F0DEF751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600 fictional source receipts, each with an authentic and edited version.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48BB2-7772-4A3C-B68E-451B3111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840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70058-D043-4853-8042-EB5B2E86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283F"/>
                </a:solidFill>
                <a:latin typeface="Arial"/>
                <a:ea typeface="Arial"/>
                <a:cs typeface="Arial"/>
              </a:rPr>
              <a:t>Training images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C9B61-D92D-4876-B3CE-BAF7B67C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622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180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9143C-8D66-4E00-B8A4-697B2250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283F"/>
                </a:solidFill>
                <a:latin typeface="Arial"/>
                <a:ea typeface="Arial"/>
                <a:cs typeface="Arial"/>
              </a:rPr>
              <a:t>Validation images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99F0E-3F3D-4F83-949B-DE69EA25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622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180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952F3-BD40-40D3-93DF-8DF6160C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57625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283F"/>
                </a:solidFill>
                <a:latin typeface="Arial"/>
                <a:ea typeface="Arial"/>
                <a:cs typeface="Arial"/>
              </a:rPr>
              <a:t>Test images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B0E3E-BA13-434B-A633-4DD84739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Source identities and layout configurations are disjoint across splits.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8C244-DE13-4E24-B665-F103CAEA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Four fonts · six editable fields · rectangular edit masks</a:t>
            </a:r>
          </a:p>
          <a:p xmlns:a="http://schemas.openxmlformats.org/drawingml/2006/main">
            <a: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JPEG and blur acquisition variation applied to both labels</a:t>
            </a:r>
          </a:p>
        </p:txBody>
      </p:sp>
    </p:spTree>
    <p:extLst>
      <p:ext uri="{BB962C8B-B14F-4D97-AF65-F5344CB8AC3E}">
        <p14:creationId xmlns:p14="http://schemas.microsoft.com/office/powerpoint/2010/main" val="21234604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03704-0028-4756-A57C-92C83B03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DOCGUARD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818CA-DB90-43C1-9BAF-BE142DCB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A5BAE-3371-4ECE-A20E-92A4203F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Two routes to a pixel mask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83D8C-A400-4D2C-BDED-8A8AC444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The same data split and output task; different feature extractors.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957D4-A78C-49E5-8239-ED2EAE4F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Compact CNN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550F4-C637-44C2-A445-4F56E811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MiT B0 Transformer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85E6D-5534-4BA2-B99C-232C0144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30,081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8BC42-D6B3-465B-BB49-4E29731A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3,349,377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43462-6C3A-4AE5-ADCC-5B616801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parameters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118D1-F420-46F8-8A06-23259FFE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362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parameters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BCB91-3D84-4B90-A089-3484A38A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83F"/>
                </a:solidFill>
                <a:latin typeface="Arial"/>
                <a:ea typeface="Arial"/>
                <a:cs typeface="Arial"/>
              </a:rPr>
              <a:t>Local feature extraction</a:t>
            </a:r>
          </a:p>
          <a:p xmlns:a="http://schemas.openxmlformats.org/drawingml/2006/main">
            <a: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83F"/>
                </a:solidFill>
                <a:latin typeface="Arial"/>
                <a:ea typeface="Arial"/>
                <a:cs typeface="Arial"/>
              </a:rPr>
              <a:t>Encoder and decoder with skip connections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38B4D-789A-4CB6-8488-502806D7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0482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83F"/>
                </a:solidFill>
                <a:latin typeface="Arial"/>
                <a:ea typeface="Arial"/>
                <a:cs typeface="Arial"/>
              </a:rPr>
              <a:t>ImageNet pretrained encoder</a:t>
            </a:r>
          </a:p>
          <a:p xmlns:a="http://schemas.openxmlformats.org/drawingml/2006/main">
            <a:pPr>
              <a:defRPr sz="187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83F"/>
                </a:solidFill>
                <a:latin typeface="Arial"/>
                <a:ea typeface="Arial"/>
                <a:cs typeface="Arial"/>
              </a:rPr>
              <a:t>Custom multiscale binary decoder</a:t>
            </a:r>
          </a:p>
        </p:txBody>
      </p:sp>
    </p:spTree>
    <p:extLst>
      <p:ext uri="{BB962C8B-B14F-4D97-AF65-F5344CB8AC3E}">
        <p14:creationId xmlns:p14="http://schemas.microsoft.com/office/powerpoint/2010/main" val="4321974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C7F79-7841-46AB-B84E-81CEBFBC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DOCGUARD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60E83-1F84-408C-B564-6048B235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6763E-1300-4AF4-96B1-D10E7643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Training kept the comparison controlled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7A4E3-D2EB-49C9-AA6A-85059999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Preliminary CPU runs on a laptop.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DE12B-5EC7-4A2F-A055-7EB87131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96C2E-C602-460A-BD0F-8010D632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283F"/>
                </a:solidFill>
                <a:latin typeface="Arial"/>
                <a:ea typeface="Arial"/>
                <a:cs typeface="Arial"/>
              </a:rPr>
              <a:t>Epochs per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F42C4-6327-4080-A687-19E62DF0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1937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160 × 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140FB-3118-4DD8-95AE-DEB4803E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1475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283F"/>
                </a:solidFill>
                <a:latin typeface="Arial"/>
                <a:ea typeface="Arial"/>
                <a:cs typeface="Arial"/>
              </a:rPr>
              <a:t>Input width × height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2D1E2-C771-4348-A530-AEE0E646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1937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2AAE4-98E7-4B44-A949-D704DAE0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147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283F"/>
                </a:solidFill>
                <a:latin typeface="Arial"/>
                <a:ea typeface="Arial"/>
                <a:cs typeface="Arial"/>
              </a:rPr>
              <a:t>Batch size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AD3E8-CD26-4D5D-BE5E-10F239F2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Binary cross entropy + positive document Dice loss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D817F-5687-4E4E-A21F-FBC312B2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Seed 42 · checkpoint and thresholds selected on validation data</a:t>
            </a:r>
          </a:p>
          <a:p xmlns:a="http://schemas.openxmlformats.org/drawingml/2006/main">
            <a: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Longer, higher resolution Colab experiments are planned, not executed.</a:t>
            </a:r>
          </a:p>
        </p:txBody>
      </p:sp>
    </p:spTree>
    <p:extLst>
      <p:ext uri="{BB962C8B-B14F-4D97-AF65-F5344CB8AC3E}">
        <p14:creationId xmlns:p14="http://schemas.microsoft.com/office/powerpoint/2010/main" val="1182250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F946A-4226-48CD-8F7A-1D00367E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DOCGUARD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5C207-406F-4B89-AE4B-056E6CB1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7D476-ACE4-4758-A6AC-63096717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CNN led the preliminary pixel F1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17993-D194-48B5-87A7-42061DBD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Higher is better. Global metrics on 180 held out test images.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66CD30E-9705-4C5E-BE53-0A8AFC7D1A28}"/>
              </a:ext>
            </a:extLst>
          </p:cNvPr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70485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f579188655432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5BB00-D348-49E4-BB9E-6BFF7B43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54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54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54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54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54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54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54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54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54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0.2460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A6FB0-AEAE-4557-8242-7500DADC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19550"/>
            <a:ext cx="3190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Best pixel F1</a:t>
            </a:r>
          </a:p>
          <a:p xmlns:a="http://schemas.openxmlformats.org/drawingml/2006/main">
            <a:pPr>
              <a:defRPr sz="21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Compact CNN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73BCE-FC07-44D3-AEC3-27DE21D0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86375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Pretraining alone did not</a:t>
            </a:r>
          </a:p>
          <a:p xmlns:a="http://schemas.openxmlformats.org/drawingml/2006/main">
            <a:pPr>
              <a:defRPr sz="172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improve this experiment.</a:t>
            </a:r>
          </a:p>
        </p:txBody>
      </p:sp>
    </p:spTree>
    <p:extLst>
      <p:ext uri="{BB962C8B-B14F-4D97-AF65-F5344CB8AC3E}">
        <p14:creationId xmlns:p14="http://schemas.microsoft.com/office/powerpoint/2010/main" val="8551825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57F7E-E16E-40B6-94EB-D660F274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1DBCB"/>
                </a:solidFill>
                <a:latin typeface="Arial"/>
                <a:ea typeface="Arial"/>
                <a:cs typeface="Arial"/>
              </a:rPr>
              <a:t>DOCGUARD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53017-7D71-465B-9155-FA87E2F5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1DBC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DBD4F-9B63-41AD-A96F-F6C4C806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False positives remain the main barrier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DD14E-01B8-49E0-B4FD-408B8013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BCBD7"/>
                </a:solidFill>
                <a:latin typeface="Arial"/>
                <a:ea typeface="Arial"/>
                <a:cs typeface="Arial"/>
              </a:rPr>
              <a:t>Authentic pages incorrectly flagged by the current document rule.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CF8BD-2495-445F-9EE0-FAE4BBE2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523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91DBCB"/>
                </a:solidFill>
                <a:latin typeface="Arial"/>
                <a:ea typeface="Arial"/>
                <a:cs typeface="Arial"/>
              </a:rPr>
              <a:t>90 / 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B2BB3-CB11-4019-8E80-43CF81C3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CNN · 100% false flags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B3CC3-5DD7-4BED-B3AF-98362BA7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91DBCB"/>
                </a:solidFill>
                <a:latin typeface="Arial"/>
                <a:ea typeface="Arial"/>
                <a:cs typeface="Arial"/>
              </a:rPr>
              <a:t>77 / 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15CD6-683F-4856-A8CD-F060EE39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514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Fine tuned Transformer · 85.6%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8E898-9994-4D2E-BFEB-024AB378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Flag rule: predicted foreground ≥ 0.1% of the model grid.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D49FE-0EB5-4F2C-B983-BCFD570F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1DBCB"/>
                </a:solidFill>
                <a:latin typeface="Arial"/>
                <a:ea typeface="Arial"/>
                <a:cs typeface="Arial"/>
              </a:rPr>
              <a:t>Highlighted area is not a fraud probability.</a:t>
            </a:r>
          </a:p>
        </p:txBody>
      </p:sp>
    </p:spTree>
    <p:extLst>
      <p:ext uri="{BB962C8B-B14F-4D97-AF65-F5344CB8AC3E}">
        <p14:creationId xmlns:p14="http://schemas.microsoft.com/office/powerpoint/2010/main" val="7816421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DA017-642F-47FC-B983-4401BD3F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DOCGUARD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82D50-D7E2-4D78-B92B-2C9EE15E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4FDBF-3279-4190-95D3-558E5698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The evidence behind the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6E87F-11E3-4304-AD47-356F312A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Precision, recall and IoU explain the weak localization results.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1CF0E-16A9-43A1-93D2-B73A8C7CFE05}"/>
              </a:ext>
            </a:extLst>
          </p:cNvPr>
          <p:cNvGraphicFramePr/>
          <p:nvPr/>
        </p:nvGraphicFramePr>
        <p:xfrm>
          <a:off xmlns:a="http://schemas.openxmlformats.org/drawingml/2006/main" x="571500" y="2619375"/>
          <a:ext xmlns:a="http://schemas.openxmlformats.org/drawingml/2006/main" cx="110490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714500"/>
                <a:gridCol w="1714500"/>
                <a:gridCol w="1714500"/>
                <a:gridCol w="171450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11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11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11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11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IoU</a:t>
                      </a:r>
                    </a:p>
                  </a:txBody>
                  <a:tcPr marL="91440" marR="91440" marT="45720" marB="45720">
                    <a:solidFill>
                      <a:srgbClr val="11283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83F"/>
                          </a:solidFill>
                          <a:latin typeface="Arial"/>
                          <a:ea typeface="Arial"/>
                          <a:cs typeface="Arial"/>
                        </a:rPr>
                        <a:t>CNN</a:t>
                      </a:r>
                    </a:p>
                  </a:txBody>
                  <a:tcPr marL="91440" marR="91440" marT="45720" marB="45720">
                    <a:solidFill>
                      <a:srgbClr val="E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83F"/>
                          </a:solidFill>
                          <a:latin typeface="Arial"/>
                          <a:ea typeface="Arial"/>
                          <a:cs typeface="Arial"/>
                        </a:rPr>
                        <a:t>0.1878</a:t>
                      </a:r>
                    </a:p>
                  </a:txBody>
                  <a:tcPr marL="91440" marR="91440" marT="45720" marB="45720">
                    <a:solidFill>
                      <a:srgbClr val="E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83F"/>
                          </a:solidFill>
                          <a:latin typeface="Arial"/>
                          <a:ea typeface="Arial"/>
                          <a:cs typeface="Arial"/>
                        </a:rPr>
                        <a:t>0.3565</a:t>
                      </a:r>
                    </a:p>
                  </a:txBody>
                  <a:tcPr marL="91440" marR="91440" marT="45720" marB="45720">
                    <a:solidFill>
                      <a:srgbClr val="E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83F"/>
                          </a:solidFill>
                          <a:latin typeface="Arial"/>
                          <a:ea typeface="Arial"/>
                          <a:cs typeface="Arial"/>
                        </a:rPr>
                        <a:t>0.2460</a:t>
                      </a:r>
                    </a:p>
                  </a:txBody>
                  <a:tcPr marL="91440" marR="91440" marT="45720" marB="45720">
                    <a:solidFill>
                      <a:srgbClr val="E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83F"/>
                          </a:solidFill>
                          <a:latin typeface="Arial"/>
                          <a:ea typeface="Arial"/>
                          <a:cs typeface="Arial"/>
                        </a:rPr>
                        <a:t>0.1403</a:t>
                      </a:r>
                    </a:p>
                  </a:txBody>
                  <a:tcPr marL="91440" marR="91440" marT="45720" marB="45720">
                    <a:solidFill>
                      <a:srgbClr val="E7EDF1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83F"/>
                          </a:solidFill>
                          <a:latin typeface="Arial"/>
                          <a:ea typeface="Arial"/>
                          <a:cs typeface="Arial"/>
                        </a:rPr>
                        <a:t>Frozen Transformer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83F"/>
                          </a:solidFill>
                          <a:latin typeface="Arial"/>
                          <a:ea typeface="Arial"/>
                          <a:cs typeface="Arial"/>
                        </a:rPr>
                        <a:t>0.1330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83F"/>
                          </a:solidFill>
                          <a:latin typeface="Arial"/>
                          <a:ea typeface="Arial"/>
                          <a:cs typeface="Arial"/>
                        </a:rPr>
                        <a:t>0.6283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83F"/>
                          </a:solidFill>
                          <a:latin typeface="Arial"/>
                          <a:ea typeface="Arial"/>
                          <a:cs typeface="Arial"/>
                        </a:rPr>
                        <a:t>0.2195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83F"/>
                          </a:solidFill>
                          <a:latin typeface="Arial"/>
                          <a:ea typeface="Arial"/>
                          <a:cs typeface="Arial"/>
                        </a:rPr>
                        <a:t>0.1233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83F"/>
                          </a:solidFill>
                          <a:latin typeface="Arial"/>
                          <a:ea typeface="Arial"/>
                          <a:cs typeface="Arial"/>
                        </a:rPr>
                        <a:t>Fine tuned Transformer</a:t>
                      </a:r>
                    </a:p>
                  </a:txBody>
                  <a:tcPr marL="91440" marR="91440" marT="45720" marB="45720">
                    <a:solidFill>
                      <a:srgbClr val="E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83F"/>
                          </a:solidFill>
                          <a:latin typeface="Arial"/>
                          <a:ea typeface="Arial"/>
                          <a:cs typeface="Arial"/>
                        </a:rPr>
                        <a:t>0.1691</a:t>
                      </a:r>
                    </a:p>
                  </a:txBody>
                  <a:tcPr marL="91440" marR="91440" marT="45720" marB="45720">
                    <a:solidFill>
                      <a:srgbClr val="E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83F"/>
                          </a:solidFill>
                          <a:latin typeface="Arial"/>
                          <a:ea typeface="Arial"/>
                          <a:cs typeface="Arial"/>
                        </a:rPr>
                        <a:t>0.3538</a:t>
                      </a:r>
                    </a:p>
                  </a:txBody>
                  <a:tcPr marL="91440" marR="91440" marT="45720" marB="45720">
                    <a:solidFill>
                      <a:srgbClr val="E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83F"/>
                          </a:solidFill>
                          <a:latin typeface="Arial"/>
                          <a:ea typeface="Arial"/>
                          <a:cs typeface="Arial"/>
                        </a:rPr>
                        <a:t>0.2288</a:t>
                      </a:r>
                    </a:p>
                  </a:txBody>
                  <a:tcPr marL="91440" marR="91440" marT="45720" marB="45720">
                    <a:solidFill>
                      <a:srgbClr val="E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83F"/>
                          </a:solidFill>
                          <a:latin typeface="Arial"/>
                          <a:ea typeface="Arial"/>
                          <a:cs typeface="Arial"/>
                        </a:rPr>
                        <a:t>0.1292</a:t>
                      </a:r>
                    </a:p>
                  </a:txBody>
                  <a:tcPr marL="91440" marR="91440" marT="45720" marB="45720">
                    <a:solidFill>
                      <a:srgbClr val="E7ED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5D6D6-09DB-4FB8-9A0E-2A3550EB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B7544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B7544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B7544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B7544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B7544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B7544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B7544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B7544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B7544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B754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B754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75440"/>
                </a:solidFill>
                <a:latin typeface="Arial"/>
                <a:ea typeface="Arial"/>
                <a:cs typeface="Arial"/>
              </a:rPr>
              <a:t>Low precision means many highlighted pixels are false positives.</a:t>
            </a:r>
          </a:p>
        </p:txBody>
      </p:sp>
    </p:spTree>
    <p:extLst>
      <p:ext uri="{BB962C8B-B14F-4D97-AF65-F5344CB8AC3E}">
        <p14:creationId xmlns:p14="http://schemas.microsoft.com/office/powerpoint/2010/main" val="12030325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2A6F0-676D-4CF2-9E52-969C8CA4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DOCGUARD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3B5CD-A4B2-4FAC-8668-31538CEC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BBBE4-E062-4F75-B81C-58B03069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Robustness across six conditions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EE183-0C50-44A3-9F75-08B53346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Fixed weights and validation thresholds; high false positives remain.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A88AC-6199-460F-9D8D-69597D163C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6b846fee343e6"/>
          <a:stretch xmlns:a="http://schemas.openxmlformats.org/drawingml/2006/main"/>
        </p:blipFill>
        <p:spPr>
          <a:xfrm xmlns:a="http://schemas.openxmlformats.org/drawingml/2006/main">
            <a:off x="1362075" y="2524125"/>
            <a:ext cx="9467850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4C597-82E1-4981-B463-F4D43A99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43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The screenshot condition is simulated. Small F1 gains do not establish reliability.</a:t>
            </a:r>
          </a:p>
        </p:txBody>
      </p:sp>
    </p:spTree>
    <p:extLst>
      <p:ext uri="{BB962C8B-B14F-4D97-AF65-F5344CB8AC3E}">
        <p14:creationId xmlns:p14="http://schemas.microsoft.com/office/powerpoint/2010/main" val="5283366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3679E-FBD5-4A3D-94E3-AA9D9F58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DOCGUARD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AC7BE-E83F-4A00-915F-955DA72C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E6F2B-4CA6-4211-BF05-D25080E0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A complete document review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CA2ED-3D16-40B4-A7D9-8209DC73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Image and PDF upload · model comparison · exportable review evidence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82B25-17B1-4EBC-A719-D5853FE553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0f75aa99344fb"/>
          <a:stretch xmlns:a="http://schemas.openxmlformats.org/drawingml/2006/main"/>
        </p:blipFill>
        <p:spPr>
          <a:xfrm xmlns:a="http://schemas.openxmlformats.org/drawingml/2006/main">
            <a:off x="2132239" y="2428875"/>
            <a:ext cx="5355771" cy="3905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282D8-C54F-42E3-80BC-974B217A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1462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Local 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9FF20-79E4-4CAE-93C1-236715EF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7662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283F"/>
                </a:solidFill>
                <a:latin typeface="Arial"/>
                <a:ea typeface="Arial"/>
                <a:cs typeface="Arial"/>
              </a:rPr>
              <a:t>Overlay</a:t>
            </a:r>
          </a:p>
          <a:p xmlns:a="http://schemas.openxmlformats.org/drawingml/2006/main">
            <a:pPr>
              <a:defRPr sz="20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283F"/>
                </a:solidFill>
                <a:latin typeface="Arial"/>
                <a:ea typeface="Arial"/>
                <a:cs typeface="Arial"/>
              </a:rPr>
              <a:t>Heatmap</a:t>
            </a:r>
          </a:p>
          <a:p xmlns:a="http://schemas.openxmlformats.org/drawingml/2006/main">
            <a:pPr>
              <a:defRPr sz="2025" b="0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283F"/>
                </a:solidFill>
                <a:latin typeface="Arial"/>
                <a:ea typeface="Arial"/>
                <a:cs typeface="Arial"/>
              </a:rPr>
              <a:t>Side by side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C13AD-A3E4-4505-B2FB-F2EFF43F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PNG</a:t>
            </a:r>
          </a:p>
          <a:p xmlns:a="http://schemas.openxmlformats.org/drawingml/2006/main">
            <a: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PDF</a:t>
            </a:r>
          </a:p>
          <a:p xmlns:a="http://schemas.openxmlformats.org/drawingml/2006/main">
            <a:pPr>
              <a:defRPr sz="18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Review ZIP</a:t>
            </a:r>
          </a:p>
        </p:txBody>
      </p:sp>
    </p:spTree>
    <p:extLst>
      <p:ext uri="{BB962C8B-B14F-4D97-AF65-F5344CB8AC3E}">
        <p14:creationId xmlns:p14="http://schemas.microsoft.com/office/powerpoint/2010/main" val="17118652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FE040-8A06-4945-B17C-900B0836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764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4C5"/>
                </a:solidFill>
                <a:latin typeface="Arial"/>
                <a:ea typeface="Arial"/>
                <a:cs typeface="Arial"/>
              </a:rPr>
              <a:t>DOCGUARD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F6548-B499-4406-AB4F-BD3F6916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8B532-E9B6-4877-89F8-6BCB1770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Regional languages in one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7DD22-BF01-4AF2-A7C6-AF13FEC0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The current document and results stay available when the interface switches.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A0F88-EE2B-4FE0-8E05-0001EE8A9E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a1bcfa27c4c3b"/>
          <a:stretch xmlns:a="http://schemas.openxmlformats.org/drawingml/2006/main"/>
        </p:blipFill>
        <p:spPr>
          <a:xfrm xmlns:a="http://schemas.openxmlformats.org/drawingml/2006/main">
            <a:off x="1759527" y="2476500"/>
            <a:ext cx="4862945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FD1D0-B33E-4932-A713-D9BCA819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3238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English</a:t>
            </a:r>
          </a:p>
          <a:p xmlns:a="http://schemas.openxmlformats.org/drawingml/2006/main">
            <a:pPr>
              <a:defRPr sz="25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Hindi</a:t>
            </a:r>
          </a:p>
          <a:p xmlns:a="http://schemas.openxmlformats.org/drawingml/2006/main">
            <a:pPr>
              <a:defRPr sz="25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Marathi</a:t>
            </a:r>
          </a:p>
          <a:p xmlns:a="http://schemas.openxmlformats.org/drawingml/2006/main">
            <a:pPr>
              <a:defRPr sz="25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Tamil</a:t>
            </a:r>
          </a:p>
          <a:p xmlns:a="http://schemas.openxmlformats.org/drawingml/2006/main">
            <a:pPr>
              <a:defRPr sz="2550" b="1">
                <a:solidFill>
                  <a:srgbClr val="1128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83F"/>
                </a:solidFill>
                <a:latin typeface="Arial"/>
                <a:ea typeface="Arial"/>
                <a:cs typeface="Arial"/>
              </a:rPr>
              <a:t>Bengali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D7B60-8C86-4A61-8573-BFC32B5F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86375"/>
            <a:ext cx="3190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Hindi PDF examples included.</a:t>
            </a:r>
          </a:p>
          <a:p xmlns:a="http://schemas.openxmlformats.org/drawingml/2006/main">
            <a:pPr>
              <a:defRPr sz="157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No OCR or translation.</a:t>
            </a:r>
          </a:p>
          <a:p xmlns:a="http://schemas.openxmlformats.org/drawingml/2006/main">
            <a:pPr>
              <a:defRPr sz="1575" b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6B78"/>
                </a:solidFill>
                <a:latin typeface="Arial"/>
                <a:ea typeface="Arial"/>
                <a:cs typeface="Arial"/>
              </a:rPr>
              <a:t>Language accuracy is unvalidated.</a:t>
            </a:r>
          </a:p>
        </p:txBody>
      </p:sp>
    </p:spTree>
    <p:extLst>
      <p:ext uri="{BB962C8B-B14F-4D97-AF65-F5344CB8AC3E}">
        <p14:creationId xmlns:p14="http://schemas.microsoft.com/office/powerpoint/2010/main" val="16951112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83B53-CEF0-4D41-9BEB-9A7E868C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1DBCB"/>
                </a:solidFill>
                <a:latin typeface="Arial"/>
                <a:ea typeface="Arial"/>
                <a:cs typeface="Arial"/>
              </a:rPr>
              <a:t>DOCGUARD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4EB38-ADDB-4F0D-9DBD-C388A9D2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1DB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1DBC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DC491-EEC5-4A75-A15B-DD61B0FC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Demonstration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893DF-6CB4-493E-8D42-31BB3500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BCBD7"/>
                </a:solidFill>
                <a:latin typeface="Arial"/>
                <a:ea typeface="Arial"/>
                <a:cs typeface="Arial"/>
              </a:rPr>
              <a:t>A reproducible project with a measured, clearly stated limitation.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0FBB5-5E3E-44A1-A965-66E633EE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1DBCB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21C58-0A0D-44AF-9CF8-D23B59E8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5334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Analyse an edited receipt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 both model overlays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 a Hindi PDF and export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an authentic false positive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56BE5-2E35-4E43-8CE1-A144F4E7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91DBC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1DBCB"/>
                </a:solidFill>
                <a:latin typeface="Arial"/>
                <a:ea typeface="Arial"/>
                <a:cs typeface="Arial"/>
              </a:rPr>
              <a:t>Next experiments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90935-8E7D-449B-890A-2F1023C2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Licensed real documents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Higher resolution and longer training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 calibration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 camera and scanner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4B8B5-E89C-49BD-AAF1-C3BE6FE2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BCBD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CBD7"/>
                </a:solidFill>
                <a:latin typeface="Arial"/>
                <a:ea typeface="Arial"/>
                <a:cs typeface="Arial"/>
              </a:rPr>
              <a:t>14 unit checks passed · 14 browser flows · 7 language checks</a:t>
            </a:r>
          </a:p>
        </p:txBody>
      </p:sp>
    </p:spTree>
    <p:extLst>
      <p:ext uri="{BB962C8B-B14F-4D97-AF65-F5344CB8AC3E}">
        <p14:creationId xmlns:p14="http://schemas.microsoft.com/office/powerpoint/2010/main" val="1411129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2026-10-26T17:34:55.2390000Z</dcterms:created>
  <dcterms:modified xsi:type="dcterms:W3CDTF">2026-10-26T17:34:55.2400000Z</dcterms:modified>
</coreProperties>
</file>